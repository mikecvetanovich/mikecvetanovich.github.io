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3_0.xml" ContentType="application/vnd.ms-powerpoint.comments+xml"/>
  <Override PartName="/ppt/comments/modernComment_22B_23281B07.xml" ContentType="application/vnd.ms-powerpoint.comments+xml"/>
  <Override PartName="/ppt/comments/modernComment_230_AC8C5145.xml" ContentType="application/vnd.ms-powerpoint.comments+xml"/>
  <Override PartName="/ppt/comments/modernComment_22F_728F26D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53" r:id="rId5"/>
    <p:sldId id="259" r:id="rId6"/>
    <p:sldId id="554" r:id="rId7"/>
    <p:sldId id="556" r:id="rId8"/>
    <p:sldId id="555" r:id="rId9"/>
    <p:sldId id="557" r:id="rId10"/>
    <p:sldId id="558" r:id="rId11"/>
    <p:sldId id="560" r:id="rId12"/>
    <p:sldId id="5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C02826-9BFF-E753-CD52-A4F774C8CDBA}" name="Michael Cvetanovich (ACCA)" initials="M(" userId="S::acca-michael.cvetanovich@usdhs.onmicrosoft.com::19d51566-0076-4de9-b6db-ab315f83d088" providerId="AD"/>
  <p188:author id="{345F504A-A541-312C-358F-DD44A3D04986}" name="CVETANOVICH, MICHAEL (CTR)" initials="CM" userId="S::michael.cvetanovich@associates.hq.dhs.gov::55e977c5-35ea-4830-9a6d-730c487f8212" providerId="AD"/>
  <p188:author id="{E7EE62ED-AC0A-D092-ACCF-DC70DFFF6068}" name="Blackburn, Michael (CTR)" initials="BM" userId="S::michael.blackburn@associates.hq.dhs.gov::175ab472-516b-4e27-874d-147672e402e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omments/modernComment_22B_23281B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F9F4A3-2A1D-4BA2-AC7A-E9571EACF637}" authorId="{E7EE62ED-AC0A-D092-ACCF-DC70DFFF6068}" created="2025-12-08T15:56:14.6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89830919" sldId="555"/>
      <ac:spMk id="2" creationId="{8451C1E9-B3B9-B8C8-7EB4-1293060284BB}"/>
      <ac:txMk cp="120" len="11">
        <ac:context len="377" hash="818363326"/>
      </ac:txMk>
    </ac:txMkLst>
    <p188:pos x="10246178" y="734785"/>
    <p188:txBody>
      <a:bodyPr/>
      <a:lstStyle/>
      <a:p>
        <a:r>
          <a:rPr lang="en-US"/>
          <a:t>A pointer or link to where this info is available would be useful</a:t>
        </a:r>
      </a:p>
    </p188:txBody>
  </p188:cm>
  <p188:cm id="{E9FEC2CC-6F09-49AA-91A6-ED959684DF13}" authorId="{E7EE62ED-AC0A-D092-ACCF-DC70DFFF6068}" created="2025-12-08T15:56:32.5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89830919" sldId="555"/>
      <ac:spMk id="2" creationId="{8451C1E9-B3B9-B8C8-7EB4-1293060284BB}"/>
      <ac:txMk cp="245" len="2">
        <ac:context len="377" hash="818363326"/>
      </ac:txMk>
    </ac:txMkLst>
    <p188:pos x="7048500" y="1564821"/>
    <p188:txBody>
      <a:bodyPr/>
      <a:lstStyle/>
      <a:p>
        <a:r>
          <a:rPr lang="en-US"/>
          <a:t>the</a:t>
        </a:r>
      </a:p>
    </p188:txBody>
  </p188:cm>
  <p188:cm id="{A12AA9A4-76C4-4182-96C4-DDC081050449}" authorId="{E7EE62ED-AC0A-D092-ACCF-DC70DFFF6068}" created="2025-12-08T15:57:42.6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89830919" sldId="555"/>
      <ac:spMk id="2" creationId="{8451C1E9-B3B9-B8C8-7EB4-1293060284BB}"/>
      <ac:txMk cp="364" len="11">
        <ac:context len="377" hash="818363326"/>
      </ac:txMk>
    </ac:txMkLst>
    <p188:pos x="7960178" y="2394857"/>
    <p188:replyLst>
      <p188:reply id="{C0715FB2-E96C-4DD0-87D9-F851CB6C0C3F}" authorId="{75C02826-9BFF-E753-CD52-A4F774C8CDBA}" created="2025-12-08T16:22:47.440">
        <p188:txBody>
          <a:bodyPr/>
          <a:lstStyle/>
          <a:p>
            <a:r>
              <a:rPr lang="en-US"/>
              <a:t>Both comments are difficult to answer because reporting in this area is still somewhat manual. </a:t>
            </a:r>
          </a:p>
        </p188:txBody>
      </p188:reply>
    </p188:replyLst>
    <p188:txBody>
      <a:bodyPr/>
      <a:lstStyle/>
      <a:p>
        <a:r>
          <a:rPr lang="en-US"/>
          <a:t>Is there a rule of thumb that would apply here, perhaps as a percentage of total users? Does CRMaaS have a guideline or expectation that app owners will maintain a "buffer"?</a:t>
        </a:r>
      </a:p>
    </p188:txBody>
  </p188:cm>
</p188:cmLst>
</file>

<file path=ppt/comments/modernComment_22F_728F26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FF9E2D1-B5D1-46DD-8040-C8DD1631943C}" authorId="{E7EE62ED-AC0A-D092-ACCF-DC70DFFF6068}" created="2025-12-08T15:54:31.0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21984213" sldId="559"/>
      <ac:spMk id="2" creationId="{7F7DC5E3-FDDE-61A6-7521-45DB29FDBE70}"/>
      <ac:txMk cp="329" len="78">
        <ac:context len="557" hash="1052996871"/>
      </ac:txMk>
    </ac:txMkLst>
    <p188:pos x="7007678" y="2517321"/>
    <p188:replyLst>
      <p188:reply id="{44D9D2B8-175D-4517-8456-772E5A5336B2}" authorId="{345F504A-A541-312C-358F-DD44A3D04986}" created="2025-12-08T16:02:20.185">
        <p188:txBody>
          <a:bodyPr/>
          <a:lstStyle/>
          <a:p>
            <a:r>
              <a:rPr lang="en-US"/>
              <a:t>I was thinking in terms of an Environment's Admin team. Those who are currently requesting additions or removal of users for example. They're typically those who set the Roles, teams &amp; Business units.</a:t>
            </a:r>
          </a:p>
        </p188:txBody>
      </p188:reply>
    </p188:replyLst>
    <p188:txBody>
      <a:bodyPr/>
      <a:lstStyle/>
      <a:p>
        <a:r>
          <a:rPr lang="en-US"/>
          <a:t>It's a little unclear to whom this directive is made. Earlier slides appeared to be addressing an application owner (business unit) but this directive seems to be to an admin team?</a:t>
        </a:r>
      </a:p>
    </p188:txBody>
  </p188:cm>
  <p188:cm id="{BB0E6D36-A7C8-40A5-AC72-FC97E4AFD65D}" authorId="{E7EE62ED-AC0A-D092-ACCF-DC70DFFF6068}" created="2025-12-08T16:01:29.92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21984213" sldId="559"/>
      <ac:spMk id="2" creationId="{7F7DC5E3-FDDE-61A6-7521-45DB29FDBE70}"/>
      <ac:txMk cp="497" len="55">
        <ac:context len="557" hash="1052996871"/>
      </ac:txMk>
    </ac:txMkLst>
    <p188:pos x="6939642" y="3796392"/>
    <p188:replyLst>
      <p188:reply id="{4A4747ED-5474-4585-85DA-C2C0285FB055}" authorId="{75C02826-9BFF-E753-CD52-A4F774C8CDBA}" created="2025-12-08T16:09:08.280">
        <p188:txBody>
          <a:bodyPr/>
          <a:lstStyle/>
          <a:p>
            <a:r>
              <a:rPr lang="en-US"/>
              <a:t>Good one Michael. I have added the email. </a:t>
            </a:r>
          </a:p>
        </p188:txBody>
      </p188:reply>
      <p188:reply id="{86572CC5-673A-46A2-9FFD-8B006A882174}" authorId="{75C02826-9BFF-E753-CD52-A4F774C8CDBA}" created="2025-12-08T16:13:04.290">
        <p188:txBody>
          <a:bodyPr/>
          <a:lstStyle/>
          <a:p>
            <a:r>
              <a:rPr lang="en-US"/>
              <a:t>Another thought: This might change with the Self-Service app is fully functioning and including standard reports for each environment. </a:t>
            </a:r>
          </a:p>
        </p188:txBody>
      </p188:reply>
    </p188:replyLst>
    <p188:txBody>
      <a:bodyPr/>
      <a:lstStyle/>
      <a:p>
        <a:r>
          <a:rPr lang="en-US"/>
          <a:t>Does CRMaaS provide this on a routine basis to app owners? This is another place to provide a link or email address to direct the comms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6735E5-5DCB-4A93-8AD5-A9F4A9BEEAB3}" authorId="{E7EE62ED-AC0A-D092-ACCF-DC70DFFF6068}" created="2025-12-08T15:55:14.636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US"/>
          <a:t>This is the BLUF slide that gives most people everything they need to know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2-08T16:19:52.536" authorId="{75C02826-9BFF-E753-CD52-A4F774C8CDBA}"/>
          </p223:rxn>
        </p223:reactions>
      </p:ext>
    </p188:extLst>
  </p188:cm>
</p188:cmLst>
</file>

<file path=ppt/comments/modernComment_230_AC8C51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3BC1C9-2039-414D-9B82-2450F772C8B5}" authorId="{E7EE62ED-AC0A-D092-ACCF-DC70DFFF6068}" created="2025-12-08T15:58:55.81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94876997" sldId="560"/>
      <ac:spMk id="2" creationId="{E52CD764-63E4-683D-B83A-520C3E79790D}"/>
      <ac:txMk cp="170" len="11">
        <ac:context len="324" hash="2051356710"/>
      </ac:txMk>
    </ac:txMkLst>
    <p188:pos x="5007428" y="2068285"/>
    <p188:txBody>
      <a:bodyPr/>
      <a:lstStyle/>
      <a:p>
        <a:r>
          <a:rPr lang="en-US"/>
          <a:t>good use of link here, there are a couple other places this could be done</a:t>
        </a:r>
      </a:p>
    </p188:txBody>
  </p188:cm>
  <p188:cm id="{CBB55376-2E85-401D-A5E5-7A07AE644DBB}" authorId="{E7EE62ED-AC0A-D092-ACCF-DC70DFFF6068}" created="2025-12-08T16:00:02.10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94876997" sldId="560"/>
      <ac:spMk id="2" creationId="{E52CD764-63E4-683D-B83A-520C3E79790D}"/>
      <ac:txMk cp="225" len="3">
        <ac:context len="324" hash="2051356710"/>
      </ac:txMk>
    </ac:txMkLst>
    <p188:pos x="4218214" y="2979964"/>
    <p188:replyLst>
      <p188:reply id="{B4B6D153-9E25-428C-BD16-E5C43CD30D97}" authorId="{75C02826-9BFF-E753-CD52-A4F774C8CDBA}" created="2025-12-08T16:18:26.989">
        <p188:txBody>
          <a:bodyPr/>
          <a:lstStyle/>
          <a:p>
            <a:r>
              <a:rPr lang="en-US"/>
              <a:t>[@Lofthus, Paul (CTR)] [@Blackburn, Michael (CTR)] Michael, yes you are correct - I have failed convention, again! haha! ;)
P.S. I just added this slide on Friday. 
Hi Paul, regarding Michael's comment.  Could you send me that naming convention doc so I can add a simple version of it here. </a:t>
            </a:r>
          </a:p>
        </p188:txBody>
      </p188:reply>
    </p188:replyLst>
    <p188:txBody>
      <a:bodyPr/>
      <a:lstStyle/>
      <a:p>
        <a:r>
          <a:rPr lang="en-US"/>
          <a:t>When there are TBD items like this, it is useful highlight the TBD and name the file "DRAFT" or otherwise mark it to ensure it's completed before publication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62D8A-55DD-4DF2-B54A-E472FB57E88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FF40-B372-4DB1-A109-E8254FCC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BED60-4B85-4DCE-98F3-027A63C8A8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21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F807-0E11-5FF0-8D11-B4D115675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42AA6-0581-D966-469B-C5867857E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D8C9E-937B-82DE-560D-5D39E1EF3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170C0-CEE7-F6A5-84F9-0C286555A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BEAD1-EE54-3C63-6695-0F8F4979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8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CBB5-8104-050C-B446-BE695AB1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55586-D9E7-24B9-B5C4-748DEF81E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FCCD4-2346-CA11-D9F7-DCE4E99A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13321-D1B2-1999-4FA4-BC471CFA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DBA8-90D8-58BA-2AEC-6C5B007F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5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DD61-F7DD-C311-12BD-B6883AE7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B4CC2-8C7F-C2C9-D1EE-29A69FB11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34AE1-28A8-A09D-489E-757445D4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70C5D-F7ED-632B-692C-F42F2566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6F743-4EC0-DD37-C157-9C083FD7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2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C65C-804A-359B-9A8E-5E8329A7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E80F8-D66A-FEF7-D5DE-469839A2E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249FD-F620-A533-D00F-3CD127DF6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635EF-34A0-6954-BE60-66E00330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69F1A-06D1-38AC-EBF6-E9119E47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16F1A-E124-0987-79D8-13A3990B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2616-645B-6166-899E-D138C2D9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FC193-5511-1ED6-CFB4-B8D856069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16E22-7E6E-FBD1-5CD1-639BD9B09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93365-D5AC-E0C9-76FF-D9E96817A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6080D-862C-73BB-A441-F768ECDD8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183EB-9CE3-60D7-1A52-A4AF6A12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D4806-33BD-7815-B897-F85750B5B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D6D11-096C-3A4C-120F-A67CDAC6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12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30B9E-8ADA-2E64-F6D9-F2EB5390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79CA2-D85C-4A73-F4DF-63ED0035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E3671-A459-D998-4870-4D54F2B4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5A129-78BA-847C-7CF1-C1D03374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9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03010A-5211-8B76-EA5D-BDE8F82B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1A105-C2FB-C945-56C9-9B641AED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55CB9-A680-0A0B-B774-9CE21D04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6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49A2-6718-C7F1-5752-141282B8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3266B-A823-60C3-AD32-2064271A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A65F5-1DB4-5E4D-BE22-74E177B42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89E98-89D1-D4D0-D0DF-26FD63442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32B64-6215-CC86-EBD6-25A450FE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C35A3-E73F-FCF2-376E-C9A58F2D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4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796D-2109-E248-E71D-E7D5EB7A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0C4FC-584F-F130-9C43-029A82674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9EE0C-223E-1551-9184-A41834A5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0B7EE-0211-507E-0F66-4523260C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8AF5F-F1C4-11CC-7626-ACE8E3FE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7DD6A-C21E-B215-351C-4FF30D3B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0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FF2A-3A3E-55DA-434B-9DEC61C0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ABE0B-67C5-1BF7-872D-5C21CF3A1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EA14A-4649-2D76-3227-56002900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93D03-C7A6-AAF3-1549-EF77A564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92C3-5EB8-3348-497A-C50CB74C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4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1D9F7-F27E-2B28-44A4-F5FAD390F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E19D9-837E-D28E-1CD7-DD928521C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4D8FD-BFCB-52F4-5A7E-E24E5422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5E345-F784-C8BC-4769-863CB021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F5B09-EF97-638E-547C-3E80C032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4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46568"/>
            <a:ext cx="9144000" cy="545954"/>
          </a:xfrm>
        </p:spPr>
        <p:txBody>
          <a:bodyPr anchor="ctr" anchorCtr="0"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12"/>
            <a:ext cx="12192000" cy="37194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46" y="6036933"/>
            <a:ext cx="681425" cy="681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8828" y="6038313"/>
            <a:ext cx="1801731" cy="6814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899F2BC0-815C-3796-AAC9-4B206119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86638D1-B56C-51DC-5DC3-439B5A0E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07/05/2024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E869087-5EEB-87A7-AF7E-F7CB4441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31D535E-14A1-05CD-7276-C9F0A42A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01/19/2024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92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width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19E7AAB-5653-4B28-852B-04AC15976B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9" r="281" b="3632"/>
          <a:stretch/>
        </p:blipFill>
        <p:spPr>
          <a:xfrm>
            <a:off x="1" y="6547733"/>
            <a:ext cx="12192000" cy="313388"/>
          </a:xfrm>
          <a:prstGeom prst="rect">
            <a:avLst/>
          </a:prstGeom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224684" cy="469265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28361-9672-43DE-82A7-CC55EF5D9DAD}"/>
              </a:ext>
            </a:extLst>
          </p:cNvPr>
          <p:cNvSpPr/>
          <p:nvPr userDrawn="1"/>
        </p:nvSpPr>
        <p:spPr>
          <a:xfrm>
            <a:off x="11857530" y="6583311"/>
            <a:ext cx="30970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A6212EBD-4F71-4EF0-A74A-A73B5D555A0D}" type="slidenum">
              <a:rPr lang="en-US" sz="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86834" y="361694"/>
            <a:ext cx="8242301" cy="672594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003366"/>
                </a:solidFill>
                <a:latin typeface="Franklin Gothic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033834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3660D-E5EA-75DD-1A83-61426080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372FA-B95A-0A3A-D116-710EEFF3E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3143A-E2C2-4D0B-364F-E606B5750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74657-02BE-3935-D81D-A9AB229AB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65273-9F28-D774-B71F-91793D5D1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sdhs.sharepoint.com/:p:/t/CRMaaS477/IQCRH37mVVwUT4AX6pW0ShD4AVXAUn3wud91sl3ls6v8lEg?e=fer2sI&amp;nav=eyJzSWQiOjU1NiwiY0lkIjozNTMxNjI5MzcxfQ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.powerapps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hyperlink" Target="https://learn.microsoft.com/en-us/power-platform/admin/about-powerapps-perapp?tabs=new#step-3-set-up-apps-to-use-per-app-plan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2B_23281B07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now.dhs.gov/sp?id=sc_cat_item&amp;sys_id=c05a84d31bf490109c20ea82f54bcb37&amp;catalog_id=2ece45601b00f0904efb2f41f54bcbc2" TargetMode="External"/><Relationship Id="rId2" Type="http://schemas.microsoft.com/office/2018/10/relationships/comments" Target="../comments/modernComment_230_AC8C514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sdhs.sharepoint.com/:p:/t/CRMaaS477/IQCRH37mVVwUT4AX6pW0ShD4AVXAUn3wud91sl3ls6v8lEg?e=NZVWvf&amp;nav=eyJzSWQiOjU1NiwiY0lkIjozNTMxNjI5MzcxfQ" TargetMode="External"/><Relationship Id="rId2" Type="http://schemas.microsoft.com/office/2018/10/relationships/comments" Target="../comments/modernComment_22F_728F26D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crmaas@hq.dhs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182880"/>
            <a:ext cx="10456320" cy="41454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Aft>
                <a:spcPts val="1800"/>
              </a:spcAft>
            </a:pPr>
            <a:r>
              <a:rPr lang="en-US" sz="4800" kern="1200">
                <a:solidFill>
                  <a:srgbClr val="FFFFFF"/>
                </a:solidFill>
                <a:latin typeface="Aptos" panose="020B0004020202020204" pitchFamily="34" charset="0"/>
              </a:rPr>
              <a:t>Microsoft Premium License Optimization Strategies</a:t>
            </a:r>
            <a:br>
              <a:rPr lang="en-US" sz="4800" kern="1200">
                <a:solidFill>
                  <a:srgbClr val="FFFFFF"/>
                </a:solidFill>
                <a:latin typeface="Aptos" panose="020B0004020202020204" pitchFamily="34" charset="0"/>
              </a:rPr>
            </a:br>
            <a:br>
              <a:rPr lang="en-US" sz="4800" kern="120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US" sz="4800" kern="1200">
                <a:solidFill>
                  <a:srgbClr val="FFFFFF"/>
                </a:solidFill>
                <a:latin typeface="Aptos" panose="020B0004020202020204" pitchFamily="34" charset="0"/>
              </a:rPr>
              <a:t>Per </a:t>
            </a:r>
            <a:r>
              <a:rPr lang="en-US" sz="4800">
                <a:solidFill>
                  <a:srgbClr val="FFFFFF"/>
                </a:solidFill>
                <a:latin typeface="Aptos" panose="020B0004020202020204" pitchFamily="34" charset="0"/>
              </a:rPr>
              <a:t>App or Per User?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Aptos" panose="020B0004020202020204" pitchFamily="34" charset="0"/>
                <a:cs typeface="+mn-cs"/>
              </a:rPr>
              <a:t>By CRMaaS Power Platform Admin Team </a:t>
            </a:r>
          </a:p>
          <a:p>
            <a:r>
              <a:rPr lang="en-US" b="1" kern="1200">
                <a:solidFill>
                  <a:schemeClr val="tx1"/>
                </a:solidFill>
                <a:latin typeface="Aptos" panose="020B0004020202020204" pitchFamily="34" charset="0"/>
                <a:cs typeface="+mn-cs"/>
              </a:rPr>
              <a:t>Sept 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AF5B3-DFB3-8EE6-1187-B8CF5932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r">
              <a:spcAft>
                <a:spcPts val="600"/>
              </a:spcAft>
            </a:pPr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1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B357-67DA-97C1-27F9-2A45BC02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513100" cy="48992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/>
              <a:t>	</a:t>
            </a:r>
            <a:r>
              <a:rPr lang="en-US" b="1">
                <a:latin typeface="Aptos" panose="020B0004020202020204" pitchFamily="34" charset="0"/>
              </a:rPr>
              <a:t>Per USER: </a:t>
            </a:r>
            <a:r>
              <a:rPr lang="en-US">
                <a:latin typeface="Aptos" panose="020B0004020202020204" pitchFamily="34" charset="0"/>
              </a:rPr>
              <a:t>(</a:t>
            </a:r>
            <a:r>
              <a:rPr lang="en-US" sz="2000" b="1">
                <a:latin typeface="Aptos" panose="020B0004020202020204" pitchFamily="34" charset="0"/>
              </a:rPr>
              <a:t>Target User: Developers</a:t>
            </a:r>
            <a:r>
              <a:rPr lang="en-US"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>
                <a:latin typeface="Aptos" panose="020B0004020202020204" pitchFamily="34" charset="0"/>
              </a:rPr>
              <a:t>		A single license per u</a:t>
            </a:r>
            <a:r>
              <a:rPr lang="en-US" u="sng">
                <a:latin typeface="Aptos" panose="020B0004020202020204" pitchFamily="34" charset="0"/>
              </a:rPr>
              <a:t>ser</a:t>
            </a:r>
            <a:r>
              <a:rPr lang="en-US">
                <a:latin typeface="Aptos" panose="020B0004020202020204" pitchFamily="34" charset="0"/>
              </a:rPr>
              <a:t>. </a:t>
            </a:r>
          </a:p>
          <a:p>
            <a:pPr marL="0" indent="0" algn="ctr">
              <a:buNone/>
            </a:pPr>
            <a:endParaRPr lang="en-US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>
                <a:latin typeface="Aptos" panose="020B0004020202020204" pitchFamily="34" charset="0"/>
              </a:rPr>
              <a:t>	</a:t>
            </a:r>
          </a:p>
          <a:p>
            <a:pPr marL="0" indent="0">
              <a:buNone/>
            </a:pPr>
            <a:r>
              <a:rPr lang="en-US">
                <a:latin typeface="Aptos" panose="020B0004020202020204" pitchFamily="34" charset="0"/>
              </a:rPr>
              <a:t>	</a:t>
            </a:r>
            <a:r>
              <a:rPr lang="en-US" b="1">
                <a:latin typeface="Aptos" panose="020B0004020202020204" pitchFamily="34" charset="0"/>
              </a:rPr>
              <a:t>Per APP </a:t>
            </a:r>
            <a:r>
              <a:rPr lang="en-US" sz="2400" b="1">
                <a:latin typeface="Aptos" panose="020B0004020202020204" pitchFamily="34" charset="0"/>
              </a:rPr>
              <a:t>aka App Pass: </a:t>
            </a:r>
            <a:r>
              <a:rPr lang="en-US" b="1">
                <a:latin typeface="Aptos" panose="020B0004020202020204" pitchFamily="34" charset="0"/>
              </a:rPr>
              <a:t>(</a:t>
            </a:r>
            <a:r>
              <a:rPr lang="en-US" sz="2000" b="1">
                <a:latin typeface="Aptos" panose="020B0004020202020204" pitchFamily="34" charset="0"/>
              </a:rPr>
              <a:t>Target User: Daily User</a:t>
            </a:r>
            <a:r>
              <a:rPr lang="en-US"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>
                <a:latin typeface="Aptos" panose="020B0004020202020204" pitchFamily="34" charset="0"/>
              </a:rPr>
              <a:t>		A single license allowing one user access to an App.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244D8-7329-D231-2820-D47B1C439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5" y="361693"/>
            <a:ext cx="11513100" cy="13080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3600">
                <a:latin typeface="Aptos" panose="020B0004020202020204" pitchFamily="34" charset="0"/>
              </a:rPr>
              <a:t>Key Definitions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	</a:t>
            </a:r>
            <a:r>
              <a:rPr lang="en-US" b="0">
                <a:solidFill>
                  <a:schemeClr val="tx1"/>
                </a:solidFill>
                <a:latin typeface="Aptos" panose="020B0004020202020204" pitchFamily="34" charset="0"/>
              </a:rPr>
              <a:t>Per USER </a:t>
            </a:r>
            <a:r>
              <a:rPr lang="en-US" sz="2000" b="0">
                <a:solidFill>
                  <a:schemeClr val="tx1"/>
                </a:solidFill>
                <a:latin typeface="Aptos" panose="020B0004020202020204" pitchFamily="34" charset="0"/>
              </a:rPr>
              <a:t>vs</a:t>
            </a:r>
            <a:r>
              <a:rPr lang="en-US" b="0">
                <a:solidFill>
                  <a:schemeClr val="tx1"/>
                </a:solidFill>
                <a:latin typeface="Aptos" panose="020B0004020202020204" pitchFamily="34" charset="0"/>
              </a:rPr>
              <a:t> Per APP | </a:t>
            </a:r>
            <a:r>
              <a:rPr lang="en-US" sz="2000" b="0">
                <a:solidFill>
                  <a:schemeClr val="tx1"/>
                </a:solidFill>
                <a:latin typeface="Aptos" panose="020B0004020202020204" pitchFamily="34" charset="0"/>
              </a:rPr>
              <a:t>The Differences Between These Two Premium License Types</a:t>
            </a:r>
            <a:endParaRPr lang="en-US" b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11603-4709-0B18-6A1F-9C103D937C18}"/>
              </a:ext>
            </a:extLst>
          </p:cNvPr>
          <p:cNvSpPr txBox="1"/>
          <p:nvPr/>
        </p:nvSpPr>
        <p:spPr>
          <a:xfrm>
            <a:off x="2596256" y="2783545"/>
            <a:ext cx="623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Allows user access to unlimited apps, portals, and use of Premium connectors across all environments where access has been given.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EC70E-9276-3CF2-CADD-4B9D7D933E5E}"/>
              </a:ext>
            </a:extLst>
          </p:cNvPr>
          <p:cNvSpPr txBox="1"/>
          <p:nvPr/>
        </p:nvSpPr>
        <p:spPr>
          <a:xfrm>
            <a:off x="2596256" y="4942207"/>
            <a:ext cx="7210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A single license is consumed when a user becomes associated with an app (or portal). The App must be activated to use App Pass Licenses in settings before sharing with a user. All App Pass are allocated to environments by a Power Platform Admin.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FBBE03-EDBD-94EB-009D-86FF9B55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3" y="361694"/>
            <a:ext cx="11034607" cy="679927"/>
          </a:xfrm>
        </p:spPr>
        <p:txBody>
          <a:bodyPr>
            <a:normAutofit/>
          </a:bodyPr>
          <a:lstStyle/>
          <a:p>
            <a:pPr algn="ctr"/>
            <a:r>
              <a:rPr lang="en-US"/>
              <a:t>Why Use Per App </a:t>
            </a:r>
            <a:r>
              <a:rPr lang="en-US" sz="2400"/>
              <a:t>(aka App Pass) </a:t>
            </a:r>
            <a:r>
              <a:rPr lang="en-US"/>
              <a:t>Licenses?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BCC4807-6A75-3DEB-CE44-CF1E609C5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3" y="1133178"/>
            <a:ext cx="11033495" cy="502113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latin typeface="Aptos"/>
                <a:cs typeface="Arial"/>
              </a:rPr>
              <a:t>Price:</a:t>
            </a:r>
            <a:endParaRPr lang="en-US">
              <a:latin typeface="Aptos"/>
            </a:endParaRPr>
          </a:p>
          <a:p>
            <a:pPr lvl="1"/>
            <a:r>
              <a:rPr lang="en-US" sz="1800">
                <a:latin typeface="Aptos"/>
                <a:cs typeface="Arial"/>
              </a:rPr>
              <a:t>The cost per person is less expensive.</a:t>
            </a:r>
            <a:endParaRPr lang="en-US" sz="1800">
              <a:latin typeface="Aptos"/>
            </a:endParaRPr>
          </a:p>
          <a:p>
            <a:r>
              <a:rPr lang="en-US">
                <a:latin typeface="Aptos"/>
                <a:cs typeface="Arial"/>
              </a:rPr>
              <a:t>Easy to manage:</a:t>
            </a:r>
            <a:endParaRPr lang="en-US">
              <a:latin typeface="Aptos"/>
            </a:endParaRPr>
          </a:p>
          <a:p>
            <a:pPr lvl="1"/>
            <a:r>
              <a:rPr lang="en-US" sz="1800">
                <a:latin typeface="Aptos"/>
                <a:cs typeface="Arial"/>
              </a:rPr>
              <a:t>A single license (app pass) allows a single user to access one app in a specific environment. </a:t>
            </a:r>
            <a:endParaRPr lang="en-US"/>
          </a:p>
          <a:p>
            <a:pPr lvl="1"/>
            <a:r>
              <a:rPr lang="en-US" sz="1800">
                <a:latin typeface="Aptos"/>
                <a:cs typeface="Arial"/>
              </a:rPr>
              <a:t>Once allocated to an environment, app passes are automatically assigned to the app/user (those without premium licenses) when an app in that environment has.</a:t>
            </a:r>
            <a:endParaRPr lang="en-US" sz="1800">
              <a:latin typeface="Aptos"/>
            </a:endParaRPr>
          </a:p>
          <a:p>
            <a:pPr marL="1257300" lvl="2" indent="-342900">
              <a:buAutoNum type="arabicPeriod"/>
            </a:pPr>
            <a:r>
              <a:rPr lang="en-US" sz="1700">
                <a:latin typeface="Aptos"/>
                <a:cs typeface="Arial"/>
              </a:rPr>
              <a:t>Per-app license switched to the ON position. (see next slide, </a:t>
            </a:r>
            <a:r>
              <a:rPr lang="en-US" sz="1700">
                <a:latin typeface="Aptos"/>
                <a:cs typeface="Arial"/>
                <a:hlinkClick r:id="rId2"/>
              </a:rPr>
              <a:t>slide 4</a:t>
            </a:r>
            <a:r>
              <a:rPr lang="en-US" sz="1700">
                <a:latin typeface="Aptos"/>
                <a:cs typeface="Arial"/>
              </a:rPr>
              <a:t>) </a:t>
            </a:r>
            <a:endParaRPr lang="en-US" sz="1700">
              <a:latin typeface="Aptos"/>
            </a:endParaRPr>
          </a:p>
          <a:p>
            <a:pPr marL="1257300" lvl="2" indent="-342900">
              <a:buAutoNum type="arabicPeriod"/>
            </a:pPr>
            <a:r>
              <a:rPr lang="en-US" sz="1700">
                <a:latin typeface="Aptos"/>
                <a:cs typeface="Arial"/>
              </a:rPr>
              <a:t>The user has been given access to the app either as an individual or a member of a security group.</a:t>
            </a:r>
            <a:endParaRPr lang="en-US" sz="1700">
              <a:latin typeface="Aptos"/>
            </a:endParaRPr>
          </a:p>
          <a:p>
            <a:pPr marL="1257300" lvl="2" indent="-342900">
              <a:buAutoNum type="arabicPeriod"/>
            </a:pPr>
            <a:r>
              <a:rPr lang="en-US" sz="1700">
                <a:latin typeface="Aptos"/>
                <a:cs typeface="Arial"/>
              </a:rPr>
              <a:t>Typically, the app is shared to select users via a shared link.</a:t>
            </a:r>
            <a:endParaRPr lang="en-US" sz="1700">
              <a:latin typeface="Aptos"/>
            </a:endParaRPr>
          </a:p>
          <a:p>
            <a:r>
              <a:rPr lang="en-US">
                <a:latin typeface="Aptos"/>
                <a:cs typeface="Arial"/>
              </a:rPr>
              <a:t>Comparing Use Types:</a:t>
            </a:r>
            <a:endParaRPr lang="en-US">
              <a:latin typeface="Aptos"/>
            </a:endParaRPr>
          </a:p>
          <a:p>
            <a:pPr lvl="1"/>
            <a:r>
              <a:rPr lang="en-US" sz="1800">
                <a:latin typeface="Aptos"/>
                <a:cs typeface="Arial"/>
              </a:rPr>
              <a:t>Developers require the Per User license when working across PROD, UAT &amp; DEV environments. </a:t>
            </a:r>
            <a:endParaRPr lang="en-US"/>
          </a:p>
          <a:p>
            <a:pPr lvl="1"/>
            <a:r>
              <a:rPr lang="en-US" sz="1800">
                <a:latin typeface="Aptos"/>
                <a:cs typeface="Arial"/>
              </a:rPr>
              <a:t>Most Per App Pass users are found in the Production environments as an app user. </a:t>
            </a:r>
            <a:endParaRPr lang="en-US"/>
          </a:p>
          <a:p>
            <a:r>
              <a:rPr lang="en-US">
                <a:latin typeface="Aptos"/>
                <a:cs typeface="Arial"/>
              </a:rPr>
              <a:t>Per App Passes are considered Add-On Capacity:</a:t>
            </a:r>
            <a:endParaRPr lang="en-US">
              <a:latin typeface="Aptos"/>
            </a:endParaRPr>
          </a:p>
          <a:p>
            <a:pPr lvl="1"/>
            <a:r>
              <a:rPr lang="en-US" sz="1800">
                <a:latin typeface="Aptos"/>
                <a:cs typeface="Arial"/>
              </a:rPr>
              <a:t>Allocation is applied in the Admin Center.</a:t>
            </a:r>
            <a:endParaRPr lang="en-US" sz="1800">
              <a:latin typeface="Aptos"/>
            </a:endParaRPr>
          </a:p>
          <a:p>
            <a:pPr lvl="1"/>
            <a:r>
              <a:rPr lang="en-US" sz="1800">
                <a:latin typeface="Aptos"/>
                <a:cs typeface="Arial"/>
              </a:rPr>
              <a:t>In App Settings, enable the “per-app licensing” toggle switch. </a:t>
            </a:r>
            <a:endParaRPr lang="en-US"/>
          </a:p>
          <a:p>
            <a:pPr lvl="1"/>
            <a:r>
              <a:rPr lang="en-US" sz="1800">
                <a:latin typeface="Aptos"/>
                <a:cs typeface="Arial"/>
              </a:rPr>
              <a:t>Note, if add-ons have not been added to an environment, the app licensing toggle is disabled.</a:t>
            </a:r>
            <a:endParaRPr lang="en-US" sz="1800">
              <a:latin typeface="Aptos"/>
            </a:endParaRPr>
          </a:p>
          <a:p>
            <a:endParaRPr lang="en-US" sz="4000">
              <a:latin typeface="Aptos" panose="020B0004020202020204" pitchFamily="34" charset="0"/>
            </a:endParaRPr>
          </a:p>
          <a:p>
            <a:endParaRPr lang="en-US" sz="4000">
              <a:latin typeface="Aptos" panose="020B0004020202020204" pitchFamily="34" charset="0"/>
            </a:endParaRPr>
          </a:p>
          <a:p>
            <a:endParaRPr lang="en-US" sz="4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90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4B600A-102C-39E6-3532-D5C7A518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312" y="2698101"/>
            <a:ext cx="3234704" cy="376334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51C1E9-B3B9-B8C8-7EB4-12930602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09" y="2369668"/>
            <a:ext cx="11224684" cy="4015602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sz="1400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Choose the app in </a:t>
            </a:r>
            <a:r>
              <a:rPr lang="en-US" sz="1400" b="0" i="0" u="none" strike="noStrike">
                <a:solidFill>
                  <a:srgbClr val="0065B3"/>
                </a:solidFill>
                <a:effectLst/>
                <a:latin typeface="Segoe UI" panose="020B0502040204020203" pitchFamily="34" charset="0"/>
                <a:hlinkClick r:id="rId3"/>
              </a:rPr>
              <a:t>Power Apps</a:t>
            </a:r>
            <a:r>
              <a:rPr lang="en-US" sz="1400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1400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</a:t>
            </a:r>
            <a:r>
              <a:rPr lang="en-US" sz="1400" b="1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...</a:t>
            </a:r>
            <a:r>
              <a:rPr lang="en-US" sz="1400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&gt; </a:t>
            </a:r>
            <a:r>
              <a:rPr lang="en-US" sz="1400" b="1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Settings</a:t>
            </a:r>
            <a:r>
              <a:rPr lang="en-US" sz="1400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80FA13-A9B7-882C-7C1E-0A28CED7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4" y="361694"/>
            <a:ext cx="11224684" cy="8310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Set up apps to use per app plans</a:t>
            </a:r>
            <a:br>
              <a:rPr lang="en-US" b="1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</a:br>
            <a:r>
              <a:rPr lang="en-US" sz="1000" b="1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reference link: </a:t>
            </a:r>
            <a:r>
              <a:rPr lang="en-US" sz="1100">
                <a:hlinkClick r:id="rId4"/>
              </a:rPr>
              <a:t>About Power Apps per app plans - Power Platform | Microsoft Learn</a:t>
            </a:r>
            <a:br>
              <a:rPr lang="en-US" sz="3200">
                <a:latin typeface="Aptos" panose="020B0004020202020204" pitchFamily="34" charset="0"/>
              </a:rPr>
            </a:b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C82C5-EDED-31F5-BBF1-EBE746156DD3}"/>
              </a:ext>
            </a:extLst>
          </p:cNvPr>
          <p:cNvSpPr txBox="1"/>
          <p:nvPr/>
        </p:nvSpPr>
        <p:spPr>
          <a:xfrm>
            <a:off x="1598212" y="1009816"/>
            <a:ext cx="8714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After an admin allocates Power Apps per app plan to an environment, they're assigned to unlicensed users when an app in that environment is shared with them.</a:t>
            </a:r>
          </a:p>
          <a:p>
            <a:pPr algn="l"/>
            <a:r>
              <a:rPr lang="en-US" b="0" i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Follow these steps to turn on assigning per app plans for users when an app is shared with them:</a:t>
            </a:r>
          </a:p>
        </p:txBody>
      </p:sp>
      <p:pic>
        <p:nvPicPr>
          <p:cNvPr id="1026" name="Picture 2" descr="App settings.">
            <a:extLst>
              <a:ext uri="{FF2B5EF4-FFF2-40B4-BE49-F238E27FC236}">
                <a16:creationId xmlns:a16="http://schemas.microsoft.com/office/drawing/2014/main" id="{6FEE0AB3-CA0D-03C6-097E-3CC4A583B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32" y="3063019"/>
            <a:ext cx="49149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7D0EEE-7D16-EB57-401A-C851CE6361DE}"/>
              </a:ext>
            </a:extLst>
          </p:cNvPr>
          <p:cNvSpPr txBox="1"/>
          <p:nvPr/>
        </p:nvSpPr>
        <p:spPr>
          <a:xfrm>
            <a:off x="7156174" y="1966741"/>
            <a:ext cx="4802587" cy="646331"/>
          </a:xfrm>
          <a:prstGeom prst="rect">
            <a:avLst/>
          </a:prstGeom>
          <a:solidFill>
            <a:srgbClr val="FFCCFF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/>
              <a:t>Note</a:t>
            </a:r>
          </a:p>
          <a:p>
            <a:r>
              <a:rPr lang="en-US" sz="1200"/>
              <a:t>In the default environment, go to app settings &gt; Pass Assignment and set the Auto assign per app passes toggle to Yes.</a:t>
            </a:r>
          </a:p>
        </p:txBody>
      </p:sp>
    </p:spTree>
    <p:extLst>
      <p:ext uri="{BB962C8B-B14F-4D97-AF65-F5344CB8AC3E}">
        <p14:creationId xmlns:p14="http://schemas.microsoft.com/office/powerpoint/2010/main" val="353162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51C1E9-B3B9-B8C8-7EB4-12930602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998" y="3411599"/>
            <a:ext cx="11281096" cy="2703443"/>
          </a:xfrm>
        </p:spPr>
        <p:txBody>
          <a:bodyPr/>
          <a:lstStyle/>
          <a:p>
            <a:r>
              <a:rPr lang="en-US" sz="24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Keeping a tally of the number of Per App Licenses needed. </a:t>
            </a:r>
          </a:p>
          <a:p>
            <a:pPr marL="457200" lvl="1" indent="0">
              <a:buNone/>
            </a:pPr>
            <a:r>
              <a:rPr lang="en-US" b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Tip: </a:t>
            </a:r>
            <a:r>
              <a:rPr lang="en-US" i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Match the number of Active Apps </a:t>
            </a:r>
            <a:r>
              <a:rPr lang="en-US" i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vs Active Users</a:t>
            </a:r>
            <a:r>
              <a:rPr lang="en-US" i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in each environment. </a:t>
            </a:r>
          </a:p>
          <a:p>
            <a:r>
              <a:rPr lang="en-US" sz="24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 user will trigger the consumption of single pass upon use.</a:t>
            </a:r>
          </a:p>
          <a:p>
            <a:pPr marL="457200" lvl="1" indent="0">
              <a:buNone/>
            </a:pPr>
            <a:r>
              <a:rPr lang="en-US" b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Tip: </a:t>
            </a:r>
            <a:r>
              <a:rPr lang="en-US" i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</a:t>
            </a:r>
            <a:r>
              <a:rPr lang="en-US" i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he license is associated with the app - not a user. </a:t>
            </a:r>
          </a:p>
          <a:p>
            <a:r>
              <a:rPr lang="en-US" sz="24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</a:t>
            </a:r>
            <a:r>
              <a:rPr lang="en-US" sz="240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App Pass </a:t>
            </a:r>
            <a:r>
              <a:rPr lang="en-US" sz="24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allocation resets after 30 days of user inactivity.</a:t>
            </a:r>
          </a:p>
          <a:p>
            <a:pPr marL="457200" lvl="1" indent="0">
              <a:buNone/>
            </a:pPr>
            <a:r>
              <a:rPr lang="en-US" b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Tip: </a:t>
            </a:r>
            <a:r>
              <a:rPr lang="en-US" i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Maintain enough Passes to allow for any overlapping.</a:t>
            </a:r>
            <a:endParaRPr lang="en-US" i="1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80FA13-A9B7-882C-7C1E-0A28CED7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4" y="361694"/>
            <a:ext cx="11224684" cy="672594"/>
          </a:xfrm>
        </p:spPr>
        <p:txBody>
          <a:bodyPr>
            <a:normAutofit/>
          </a:bodyPr>
          <a:lstStyle/>
          <a:p>
            <a:pPr algn="ctr"/>
            <a:r>
              <a:rPr lang="en-US"/>
              <a:t>“Active Users”  “Active Apps”  “Per App Passes”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A3F778D4-3D9D-1CA9-03F6-2A1A87AAE6D0}"/>
              </a:ext>
            </a:extLst>
          </p:cNvPr>
          <p:cNvSpPr txBox="1">
            <a:spLocks/>
          </p:cNvSpPr>
          <p:nvPr/>
        </p:nvSpPr>
        <p:spPr>
          <a:xfrm>
            <a:off x="583998" y="1034288"/>
            <a:ext cx="10404706" cy="1644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latin typeface="Aptos" panose="020B0004020202020204" pitchFamily="34" charset="0"/>
              </a:rPr>
              <a:t>Active Users</a:t>
            </a:r>
            <a:r>
              <a:rPr lang="en-US" sz="1800">
                <a:latin typeface="Aptos" panose="020B0004020202020204" pitchFamily="34" charset="0"/>
              </a:rPr>
              <a:t>: Refers to individuals who interact with the app, such as opening it or using its features. </a:t>
            </a:r>
          </a:p>
          <a:p>
            <a:r>
              <a:rPr lang="en-US" sz="1800" b="1">
                <a:latin typeface="Aptos" panose="020B0004020202020204" pitchFamily="34" charset="0"/>
              </a:rPr>
              <a:t>Active Apps</a:t>
            </a:r>
            <a:r>
              <a:rPr lang="en-US" sz="1800">
                <a:latin typeface="Aptos" panose="020B0004020202020204" pitchFamily="34" charset="0"/>
              </a:rPr>
              <a:t>: Indicates applications that are currently being used by users within a specific environment. </a:t>
            </a:r>
          </a:p>
          <a:p>
            <a:r>
              <a:rPr lang="en-US" sz="1800" b="1">
                <a:latin typeface="Aptos" panose="020B0004020202020204" pitchFamily="34" charset="0"/>
              </a:rPr>
              <a:t>Per App Passes</a:t>
            </a:r>
            <a:r>
              <a:rPr lang="en-US" sz="1800">
                <a:latin typeface="Aptos" panose="020B0004020202020204" pitchFamily="34" charset="0"/>
              </a:rPr>
              <a:t>: These are licenses assigned at the environment level, allowing users to run one application or portal for a specific business scenario.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AAB6B-FA77-3457-A03E-412102F7022D}"/>
              </a:ext>
            </a:extLst>
          </p:cNvPr>
          <p:cNvSpPr txBox="1"/>
          <p:nvPr/>
        </p:nvSpPr>
        <p:spPr>
          <a:xfrm>
            <a:off x="405517" y="2814272"/>
            <a:ext cx="334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Considerations &amp; Tips</a:t>
            </a:r>
            <a:r>
              <a:rPr lang="en-US" sz="240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5898309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51C1E9-B3B9-B8C8-7EB4-1293060284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Arial"/>
                <a:cs typeface="Arial"/>
              </a:rPr>
              <a:t>Trigger: </a:t>
            </a:r>
          </a:p>
          <a:p>
            <a:pPr lvl="1"/>
            <a:r>
              <a:rPr lang="en-US">
                <a:latin typeface="Arial"/>
                <a:cs typeface="Arial"/>
              </a:rPr>
              <a:t>The pass is consumed when user opens app.</a:t>
            </a:r>
            <a:endParaRPr lang="en-US"/>
          </a:p>
          <a:p>
            <a:r>
              <a:rPr lang="en-US" sz="2400">
                <a:latin typeface="Arial"/>
                <a:cs typeface="Arial"/>
              </a:rPr>
              <a:t>Reclaiming:</a:t>
            </a:r>
          </a:p>
          <a:p>
            <a:pPr marL="457200" lvl="1" indent="0">
              <a:buNone/>
            </a:pPr>
            <a:r>
              <a:rPr lang="en-US">
                <a:latin typeface="Arial"/>
                <a:cs typeface="Arial"/>
              </a:rPr>
              <a:t>Users with new Per User license automatically release app pass</a:t>
            </a:r>
          </a:p>
          <a:p>
            <a:pPr lvl="1"/>
            <a:r>
              <a:rPr lang="en-US" sz="2000">
                <a:latin typeface="Arial"/>
                <a:cs typeface="Arial"/>
              </a:rPr>
              <a:t>App pass resets after license is removed plus 30 days of inactivity</a:t>
            </a:r>
          </a:p>
          <a:p>
            <a:r>
              <a:rPr lang="en-US" sz="2400">
                <a:latin typeface="Arial"/>
                <a:cs typeface="Arial"/>
              </a:rPr>
              <a:t>Admin Center Usage Tracking:</a:t>
            </a:r>
          </a:p>
          <a:p>
            <a:pPr lvl="1"/>
            <a:r>
              <a:rPr lang="en-US" sz="2000">
                <a:latin typeface="Arial"/>
                <a:cs typeface="Arial"/>
              </a:rPr>
              <a:t>Monitor active/consumed app passes</a:t>
            </a:r>
          </a:p>
          <a:p>
            <a:pPr lvl="1"/>
            <a:r>
              <a:rPr lang="en-US" sz="2000">
                <a:latin typeface="Arial"/>
                <a:cs typeface="Arial"/>
              </a:rPr>
              <a:t>An Environment Admin has access to view Shared, Active users and App GUID.</a:t>
            </a:r>
          </a:p>
          <a:p>
            <a:pPr lvl="1"/>
            <a:r>
              <a:rPr lang="en-US" sz="2000">
                <a:latin typeface="Arial"/>
                <a:cs typeface="Arial"/>
              </a:rPr>
              <a:t>Download is available to get a list of name of those users and the license type.</a:t>
            </a:r>
          </a:p>
          <a:p>
            <a:pPr lvl="1"/>
            <a:r>
              <a:rPr lang="en-US" sz="2000">
                <a:latin typeface="Arial"/>
                <a:cs typeface="Arial"/>
              </a:rPr>
              <a:t>See next page for a view of the Admin Center.  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80FA13-A9B7-882C-7C1E-0A28CED7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4" y="361694"/>
            <a:ext cx="11224684" cy="672594"/>
          </a:xfrm>
        </p:spPr>
        <p:txBody>
          <a:bodyPr>
            <a:normAutofit/>
          </a:bodyPr>
          <a:lstStyle/>
          <a:p>
            <a:pPr algn="ctr"/>
            <a:r>
              <a:rPr lang="en-US"/>
              <a:t>App Pass Consumption &amp; Reclaiming</a:t>
            </a:r>
          </a:p>
        </p:txBody>
      </p:sp>
    </p:spTree>
    <p:extLst>
      <p:ext uri="{BB962C8B-B14F-4D97-AF65-F5344CB8AC3E}">
        <p14:creationId xmlns:p14="http://schemas.microsoft.com/office/powerpoint/2010/main" val="26845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14D9EE-7A09-F914-CA83-11DB9468F9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5518" y="969362"/>
            <a:ext cx="10813772" cy="532031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BCEB76-B57D-B338-0B3D-3C62EF8D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 Platform Admin Center License View</a:t>
            </a:r>
          </a:p>
        </p:txBody>
      </p:sp>
    </p:spTree>
    <p:extLst>
      <p:ext uri="{BB962C8B-B14F-4D97-AF65-F5344CB8AC3E}">
        <p14:creationId xmlns:p14="http://schemas.microsoft.com/office/powerpoint/2010/main" val="289030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2CD764-63E4-683D-B83A-520C3E797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7664" y="1040388"/>
            <a:ext cx="6518669" cy="47827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Arial"/>
                <a:cs typeface="Arial"/>
              </a:rPr>
              <a:t>Applying Per-app licenses to specific users or Groups.</a:t>
            </a:r>
            <a:endParaRPr lang="en-US" sz="2000"/>
          </a:p>
          <a:p>
            <a:endParaRPr lang="en-US" sz="2000">
              <a:latin typeface="Arial"/>
              <a:cs typeface="Arial"/>
            </a:endParaRPr>
          </a:p>
          <a:p>
            <a:pPr lvl="1"/>
            <a:r>
              <a:rPr lang="en-US" sz="2000">
                <a:latin typeface="Arial"/>
                <a:cs typeface="Arial"/>
              </a:rPr>
              <a:t>Request the creation of security groups in Entra ID. (Formerly named: Active Directory)</a:t>
            </a:r>
            <a:br>
              <a:rPr lang="en-US" sz="2000">
                <a:latin typeface="Arial"/>
                <a:cs typeface="Arial"/>
              </a:rPr>
            </a:br>
            <a:endParaRPr lang="en-US" sz="2000"/>
          </a:p>
          <a:p>
            <a:pPr lvl="1"/>
            <a:r>
              <a:rPr lang="en-US" sz="2000">
                <a:latin typeface="Arial"/>
                <a:cs typeface="Arial"/>
              </a:rPr>
              <a:t>Create </a:t>
            </a:r>
            <a:r>
              <a:rPr lang="en-US" sz="2000">
                <a:latin typeface="Arial"/>
                <a:cs typeface="Arial"/>
                <a:hlinkClick r:id="rId3"/>
              </a:rPr>
              <a:t>ServiceNow ticket</a:t>
            </a:r>
            <a:r>
              <a:rPr lang="en-US" sz="2000">
                <a:latin typeface="Arial"/>
                <a:cs typeface="Arial"/>
              </a:rPr>
              <a:t> requesting security groups.</a:t>
            </a:r>
            <a:br>
              <a:rPr lang="en-US" sz="2000">
                <a:latin typeface="Arial"/>
                <a:cs typeface="Arial"/>
              </a:rPr>
            </a:br>
            <a:endParaRPr lang="en-US" sz="2000"/>
          </a:p>
          <a:p>
            <a:pPr lvl="1"/>
            <a:r>
              <a:rPr lang="en-US" sz="2000" i="1" u="sng">
                <a:latin typeface="Arial"/>
                <a:cs typeface="Arial"/>
              </a:rPr>
              <a:t>{insert naming convention doc}.</a:t>
            </a:r>
            <a:br>
              <a:rPr lang="en-US" sz="2000" u="sng">
                <a:latin typeface="Arial"/>
                <a:cs typeface="Arial"/>
              </a:rPr>
            </a:br>
            <a:endParaRPr lang="en-US" sz="2000"/>
          </a:p>
          <a:p>
            <a:pPr lvl="1"/>
            <a:r>
              <a:rPr lang="en-US" sz="2000">
                <a:latin typeface="Arial"/>
                <a:cs typeface="Arial"/>
              </a:rPr>
              <a:t>Using the app's ellipse, click Share and insert security group.</a:t>
            </a:r>
            <a:br>
              <a:rPr lang="en-US" sz="2000">
                <a:latin typeface="Arial"/>
                <a:cs typeface="Arial"/>
              </a:rPr>
            </a:br>
            <a:endParaRPr lang="en-US" sz="2000"/>
          </a:p>
          <a:p>
            <a:pPr lvl="1"/>
            <a:r>
              <a:rPr lang="en-US" sz="2000">
                <a:latin typeface="Arial"/>
                <a:cs typeface="Arial"/>
              </a:rPr>
              <a:t>Copy app link to share.</a:t>
            </a:r>
            <a:endParaRPr lang="en-US" sz="2000"/>
          </a:p>
          <a:p>
            <a:pPr marL="457200" lvl="1" indent="0">
              <a:buNone/>
            </a:pPr>
            <a:endParaRPr lang="en-US" sz="2000"/>
          </a:p>
          <a:p>
            <a:pPr marL="457200" lvl="1" indent="0">
              <a:buNone/>
            </a:pPr>
            <a:endParaRPr lang="en-US" sz="2000"/>
          </a:p>
          <a:p>
            <a:pPr lvl="1"/>
            <a:endParaRPr lang="en-US" sz="11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E00FAC-3B92-C0E3-57D6-436EBEA0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Control Access via Security Groups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8D72B-9061-51D0-1BCE-79E2F3774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994" y="1925891"/>
            <a:ext cx="3350709" cy="2790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667463-B0AC-B0B6-EA8D-2364618CA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919" y="1922838"/>
            <a:ext cx="1883709" cy="279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769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7DC5E3-FDDE-61A6-7521-45DB29FDB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858" y="1121135"/>
            <a:ext cx="11353709" cy="4333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In the Production Environment:</a:t>
            </a:r>
          </a:p>
          <a:p>
            <a:pPr lvl="1"/>
            <a:r>
              <a:rPr lang="en-US">
                <a:latin typeface="Arial"/>
                <a:cs typeface="Arial"/>
              </a:rPr>
              <a:t>Remove unnecessary per User license except for developers.</a:t>
            </a:r>
          </a:p>
          <a:p>
            <a:pPr lvl="1"/>
            <a:r>
              <a:rPr lang="en-US">
                <a:latin typeface="Arial"/>
                <a:cs typeface="Arial"/>
              </a:rPr>
              <a:t>Know the ratio of apps/users when calculating the per App licenses needed.</a:t>
            </a:r>
          </a:p>
          <a:p>
            <a:pPr marL="914400" lvl="2" indent="0">
              <a:buNone/>
            </a:pPr>
            <a:r>
              <a:rPr lang="en-US">
                <a:latin typeface="Arial"/>
                <a:cs typeface="Arial"/>
              </a:rPr>
              <a:t>For example, if there are two app being used, each user could consume 2 per app licenses, one for each app being used. </a:t>
            </a:r>
          </a:p>
          <a:p>
            <a:pPr lvl="1"/>
            <a:r>
              <a:rPr lang="en-US">
                <a:latin typeface="Arial"/>
                <a:cs typeface="Arial"/>
              </a:rPr>
              <a:t>Make sure the App-Pass switch is turned on. </a:t>
            </a:r>
            <a:r>
              <a:rPr lang="en-US" b="1">
                <a:latin typeface="Arial"/>
                <a:cs typeface="Arial"/>
              </a:rPr>
              <a:t>Turn off any app pass switch that is not being used in all environments. See </a:t>
            </a:r>
            <a:r>
              <a:rPr lang="en-US" b="1">
                <a:latin typeface="Arial"/>
                <a:cs typeface="Arial"/>
                <a:hlinkClick r:id="rId3"/>
              </a:rPr>
              <a:t>Slide 4</a:t>
            </a:r>
            <a:r>
              <a:rPr lang="en-US" b="1">
                <a:latin typeface="Arial"/>
                <a:cs typeface="Arial"/>
              </a:rPr>
              <a:t> </a:t>
            </a:r>
          </a:p>
          <a:p>
            <a:r>
              <a:rPr lang="en-US">
                <a:latin typeface="Arial"/>
                <a:cs typeface="Arial"/>
              </a:rPr>
              <a:t>Keep good records of users &amp; inventory of users active in each security group.  </a:t>
            </a:r>
          </a:p>
          <a:p>
            <a:pPr lvl="1"/>
            <a:r>
              <a:rPr lang="en-US">
                <a:latin typeface="Arial"/>
                <a:cs typeface="Arial"/>
              </a:rPr>
              <a:t>If needed, email </a:t>
            </a:r>
            <a:r>
              <a:rPr lang="en-US">
                <a:latin typeface="Arial"/>
                <a:cs typeface="Arial"/>
                <a:hlinkClick r:id="rId4"/>
              </a:rPr>
              <a:t>crmaas@hq.dhs.gov</a:t>
            </a:r>
            <a:r>
              <a:rPr lang="en-US">
                <a:latin typeface="Arial"/>
                <a:cs typeface="Arial"/>
              </a:rPr>
              <a:t> for group role counts. </a:t>
            </a:r>
          </a:p>
          <a:p>
            <a:pPr marL="457200" lvl="1" indent="0">
              <a:buNone/>
            </a:pPr>
            <a:r>
              <a:rPr lang="en-US">
                <a:latin typeface="Arial"/>
                <a:cs typeface="Arial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30E530-5430-C04B-BE3D-BAD58D79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9219842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132C1D368434182B6B190772E987A" ma:contentTypeVersion="6" ma:contentTypeDescription="Create a new document." ma:contentTypeScope="" ma:versionID="3b8a43f10f46b24c26f7b20b8307d180">
  <xsd:schema xmlns:xsd="http://www.w3.org/2001/XMLSchema" xmlns:xs="http://www.w3.org/2001/XMLSchema" xmlns:p="http://schemas.microsoft.com/office/2006/metadata/properties" xmlns:ns2="97549848-4418-48f6-8aa1-899eb6c0f74b" xmlns:ns3="704528a6-3ff7-4104-ab0a-69165f794937" targetNamespace="http://schemas.microsoft.com/office/2006/metadata/properties" ma:root="true" ma:fieldsID="889d43abe5bb693200b90ceff25a55d9" ns2:_="" ns3:_="">
    <xsd:import namespace="97549848-4418-48f6-8aa1-899eb6c0f74b"/>
    <xsd:import namespace="704528a6-3ff7-4104-ab0a-69165f7949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49848-4418-48f6-8aa1-899eb6c0f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4528a6-3ff7-4104-ab0a-69165f79493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C4CFB1-8896-4DEF-B496-2E8B8679F22A}">
  <ds:schemaRefs>
    <ds:schemaRef ds:uri="704528a6-3ff7-4104-ab0a-69165f794937"/>
    <ds:schemaRef ds:uri="97549848-4418-48f6-8aa1-899eb6c0f7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7A449A8-03E1-4645-B83D-E153AE4BBCA3}">
  <ds:schemaRefs>
    <ds:schemaRef ds:uri="0b520f05-26e7-4ef0-9810-826b26f84971"/>
    <ds:schemaRef ds:uri="d5681df5-d2fb-47a1-806d-682c0be814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9328D59-2A85-40B8-9DE1-7BAD3DE37F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Microsoft Premium License Optimization Strategies  Per App or Per User?  </vt:lpstr>
      <vt:lpstr>Key Definitions  Per USER vs Per APP | The Differences Between These Two Premium License Types</vt:lpstr>
      <vt:lpstr>Why Use Per App (aka App Pass) Licenses?</vt:lpstr>
      <vt:lpstr>Set up apps to use per app plans reference link: About Power Apps per app plans - Power Platform | Microsoft Learn </vt:lpstr>
      <vt:lpstr>“Active Users”  “Active Apps”  “Per App Passes”</vt:lpstr>
      <vt:lpstr>App Pass Consumption &amp; Reclaiming</vt:lpstr>
      <vt:lpstr>Power Platform Admin Center License View</vt:lpstr>
      <vt:lpstr>Control Access via Security Groups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ISB ICAM  ALM Transition Meeting</dc:title>
  <dc:creator>DENNY, KEITH (CTR)</dc:creator>
  <cp:revision>2</cp:revision>
  <dcterms:created xsi:type="dcterms:W3CDTF">2024-08-12T16:59:16Z</dcterms:created>
  <dcterms:modified xsi:type="dcterms:W3CDTF">2026-03-24T14:17:41Z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0x010100B6C132C1D368434182B6B190772E987A</vt:lpwstr>
  </property>
  <property fmtid="{D5CDD505-2E9C-101B-9397-08002B2CF9AE}" pid="3" name="MSIP_Label_a2eef23d-2e95-4428-9a3c-2526d95b164a_Enabled">
    <vt:lpwstr>true</vt:lpwstr>
  </property>
  <property fmtid="{D5CDD505-2E9C-101B-9397-08002B2CF9AE}" pid="4" name="MSIP_Label_a2eef23d-2e95-4428-9a3c-2526d95b164a_SetDate">
    <vt:lpwstr>2025-12-08T15:49:32Z</vt:lpwstr>
  </property>
  <property fmtid="{D5CDD505-2E9C-101B-9397-08002B2CF9AE}" pid="5" name="MSIP_Label_a2eef23d-2e95-4428-9a3c-2526d95b164a_Method">
    <vt:lpwstr>Standard</vt:lpwstr>
  </property>
  <property fmtid="{D5CDD505-2E9C-101B-9397-08002B2CF9AE}" pid="6" name="MSIP_Label_a2eef23d-2e95-4428-9a3c-2526d95b164a_Name">
    <vt:lpwstr>For Official Use Only (FOUO)</vt:lpwstr>
  </property>
  <property fmtid="{D5CDD505-2E9C-101B-9397-08002B2CF9AE}" pid="7" name="MSIP_Label_a2eef23d-2e95-4428-9a3c-2526d95b164a_SiteId">
    <vt:lpwstr>3ccde76c-946d-4a12-bb7a-fc9d0842354a</vt:lpwstr>
  </property>
  <property fmtid="{D5CDD505-2E9C-101B-9397-08002B2CF9AE}" pid="8" name="MSIP_Label_a2eef23d-2e95-4428-9a3c-2526d95b164a_ActionId">
    <vt:lpwstr>6c761638-865f-408e-b2b2-0871ee486635</vt:lpwstr>
  </property>
  <property fmtid="{D5CDD505-2E9C-101B-9397-08002B2CF9AE}" pid="9" name="MSIP_Label_a2eef23d-2e95-4428-9a3c-2526d95b164a_ContentBits">
    <vt:lpwstr>0</vt:lpwstr>
  </property>
  <property fmtid="{D5CDD505-2E9C-101B-9397-08002B2CF9AE}" pid="10" name="MSIP_Label_a2eef23d-2e95-4428-9a3c-2526d95b164a_Tag">
    <vt:lpwstr>10, 3, 0, 2</vt:lpwstr>
  </property>
</Properties>
</file>